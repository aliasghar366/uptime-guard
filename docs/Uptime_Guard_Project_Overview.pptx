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13248" y="1051560"/>
            <a:ext cx="1371600" cy="137160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3B9EF5"/>
              </a:gs>
              <a:gs pos="100000">
                <a:srgbClr val="2DD4BF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Segoe UI"/>
              </a:rPr>
              <a:t>UPTIME 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D8E3EE"/>
                </a:solidFill>
                <a:latin typeface="Segoe UI"/>
              </a:rPr>
              <a:t>Preventive Maintenance &amp; Lubrication Tracking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9BACBF"/>
                </a:solidFill>
                <a:latin typeface="Segoe UI"/>
              </a:rPr>
              <a:t>Digitizing the BF / CF / DF Weekly Lubrication Schedules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BACBF"/>
                </a:solidFill>
                <a:latin typeface="Segoe UI"/>
              </a:rPr>
              <a:t>Project Overview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From a paper checklist to a live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D8E3EE"/>
                </a:solidFill>
                <a:latin typeface="Segoe UI"/>
              </a:rPr>
              <a:t>•  Three machine units on the corrugator line — B Flute, C Flute, Double Facer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D8E3EE"/>
                </a:solidFill>
                <a:latin typeface="Segoe UI"/>
              </a:rPr>
              <a:t>•  Each had a paper/Excel weekly lubrication schedule: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9BACBF"/>
                </a:solidFill>
                <a:latin typeface="Segoe UI"/>
              </a:rPr>
              <a:t>     •  Section code, task, reference photo, point count, frequency, lubricant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9BACBF"/>
                </a:solidFill>
                <a:latin typeface="Segoe UI"/>
              </a:rPr>
              <a:t>     •  Manually signed off by Operator, Lead Operator, and Production Engineer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D8E3EE"/>
                </a:solidFill>
                <a:latin typeface="Segoe UI"/>
              </a:rPr>
              <a:t>•  No enforced scheduling — dates were typed in by hand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D8E3EE"/>
                </a:solidFill>
                <a:latin typeface="Segoe UI"/>
              </a:rPr>
              <a:t>•  No way to prove a check actually happened, or who did it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D8E3EE"/>
                </a:solidFill>
                <a:latin typeface="Segoe UI"/>
              </a:rPr>
              <a:t>•  No alerting — a missed lubrication point was easy to miss entirely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5120640" cy="4480560"/>
          </a:xfrm>
          <a:prstGeom prst="roundRect">
            <a:avLst>
              <a:gd name="adj" fmla="val 6000"/>
            </a:avLst>
          </a:prstGeom>
          <a:solidFill>
            <a:srgbClr val="10263F"/>
          </a:solidFill>
          <a:ln w="12700">
            <a:solidFill>
              <a:srgbClr val="2A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THE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D8E3EE"/>
                </a:solidFill>
                <a:latin typeface="Segoe UI"/>
              </a:rPr>
              <a:t>•  Turn the paper sheet into a real, role-based web app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D8E3EE"/>
                </a:solidFill>
                <a:latin typeface="Segoe UI"/>
              </a:rPr>
              <a:t>•  Auto-calculate due dates instead of manual date columns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D8E3EE"/>
                </a:solidFill>
                <a:latin typeface="Segoe UI"/>
              </a:rPr>
              <a:t>•  Alert people before/when something is overdue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D8E3EE"/>
                </a:solidFill>
                <a:latin typeface="Segoe UI"/>
              </a:rPr>
              <a:t>•  Make every action traceable and permanent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D8E3EE"/>
                </a:solidFill>
                <a:latin typeface="Segoe UI"/>
              </a:rPr>
              <a:t>•  Keep it specific to real plant needs — no bloat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ACCESS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Four-tier role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10263F"/>
          </a:solidFill>
          <a:ln w="12700">
            <a:solidFill>
              <a:srgbClr val="2A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2240280" cy="54864"/>
          </a:xfrm>
          <a:prstGeom prst="roundRect">
            <a:avLst/>
          </a:prstGeom>
          <a:solidFill>
            <a:srgbClr val="3B9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SUPER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9EF5"/>
                </a:solidFill>
                <a:latin typeface="Segoe UI"/>
              </a:rPr>
              <a:t>Khalid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CBF"/>
                </a:solidFill>
                <a:latin typeface="Segoe UI"/>
              </a:rPr>
              <a:t>Full control — all units, add/archive machines,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CBF"/>
                </a:solidFill>
                <a:latin typeface="Segoe UI"/>
              </a:rPr>
              <a:t>manage every account, configure alert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10263F"/>
          </a:solidFill>
          <a:ln w="12700">
            <a:solidFill>
              <a:srgbClr val="2A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80" y="1783080"/>
            <a:ext cx="2240280" cy="54864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6596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PRODUCTION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514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D4BF"/>
                </a:solidFill>
                <a:latin typeface="Segoe UI"/>
              </a:rPr>
              <a:t>Adeel &amp; Umer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20040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CBF"/>
                </a:solidFill>
                <a:latin typeface="Segoe UI"/>
              </a:rPr>
              <a:t>Full visibility across all units,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CBF"/>
                </a:solidFill>
                <a:latin typeface="Segoe UI"/>
              </a:rPr>
              <a:t>edits config, cannot manage accounts or archive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10263F"/>
          </a:solidFill>
          <a:ln w="12700">
            <a:solidFill>
              <a:srgbClr val="2A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1783080"/>
            <a:ext cx="2240280" cy="54864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6596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ADMIN / LEAD 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14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Majid, Ashfaq, Riaz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0040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CBF"/>
                </a:solidFill>
                <a:latin typeface="Segoe UI"/>
              </a:rPr>
              <a:t>Scoped to assigned unit(s),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CBF"/>
                </a:solidFill>
                <a:latin typeface="Segoe UI"/>
              </a:rPr>
              <a:t>manages tasks + Operator accounts in scope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55448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10263F"/>
          </a:solidFill>
          <a:ln w="12700">
            <a:solidFill>
              <a:srgbClr val="2A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81160" y="1783080"/>
            <a:ext cx="2240280" cy="54864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96596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OPERATOR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514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87171"/>
                </a:solidFill>
                <a:latin typeface="Segoe UI"/>
              </a:rPr>
              <a:t>9 named crew, 3 per 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20040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CBF"/>
                </a:solidFill>
                <a:latin typeface="Segoe UI"/>
              </a:rPr>
              <a:t>Scoped to assigned unit(s),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BACBF"/>
                </a:solidFill>
                <a:latin typeface="Segoe UI"/>
              </a:rPr>
              <a:t>marks a task OK / Not Working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ACCESS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Permission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1600200"/>
                <a:gridCol w="1600200"/>
                <a:gridCol w="1600200"/>
                <a:gridCol w="160020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T="76200" marB="76200">
                    <a:solidFill>
                      <a:srgbClr val="102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Super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T="76200" marB="76200">
                    <a:solidFill>
                      <a:srgbClr val="102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Prod.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Engineer</a:t>
                      </a:r>
                    </a:p>
                  </a:txBody>
                  <a:tcPr marT="76200" marB="76200">
                    <a:solidFill>
                      <a:srgbClr val="102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Admin /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Lead Op.</a:t>
                      </a:r>
                    </a:p>
                  </a:txBody>
                  <a:tcPr marT="76200" marB="76200">
                    <a:solidFill>
                      <a:srgbClr val="102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Operator</a:t>
                      </a:r>
                    </a:p>
                  </a:txBody>
                  <a:tcPr marT="76200" marB="76200">
                    <a:solidFill>
                      <a:srgbClr val="10263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Mark a task OK / Not Working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Comment on any logged action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own only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Edit / undo an Operator's entry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Create tasks / sections / frequencies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Add a brand-new machine / unit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Archive / delete a machine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Create / manage user accounts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 (all)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operators only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Configure alert timing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View analytics &amp; activity log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all units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all units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own scope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8E3EE"/>
                          </a:solidFill>
                          <a:latin typeface="Segoe UI"/>
                        </a:rPr>
                        <a:t>own history</a:t>
                      </a:r>
                    </a:p>
                  </a:txBody>
                  <a:tcPr marT="76200" marB="76200">
                    <a:solidFill>
                      <a:srgbClr val="0B1E3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D8E3EE"/>
                </a:solidFill>
                <a:latin typeface="Consolas"/>
              </a:rPr>
              <a:t>Unit  (BF / CF / DF, extensible)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8E3EE"/>
                </a:solidFill>
                <a:latin typeface="Consolas"/>
              </a:rPr>
              <a:t>   └ Section  (RS-1, QF-P(CF), HPH-A II, ...)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8E3EE"/>
                </a:solidFill>
                <a:latin typeface="Consolas"/>
              </a:rPr>
              <a:t>        └ Task  (one lubrication point)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8E3EE"/>
                </a:solidFill>
                <a:latin typeface="Consolas"/>
              </a:rPr>
              <a:t>             ├ task_status_events   (append-only check-off log)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8E3EE"/>
                </a:solidFill>
                <a:latin typeface="Consolas"/>
              </a:rPr>
              <a:t>             │    └ event_annotations  (Admin+ comments)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8E3EE"/>
                </a:solidFill>
                <a:latin typeface="Consolas"/>
              </a:rPr>
              <a:t>             ├ task_current_state   (cached live status + next due)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8E3EE"/>
                </a:solidFill>
                <a:latin typeface="Consolas"/>
              </a:rPr>
              <a:t>             └ alerts   (due-soon / overdue / critical / not-working)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8E3EE"/>
                </a:solidFill>
                <a:latin typeface="Consolas"/>
              </a:rPr>
              <a:t>profiles + user_unit_assignments   (accounts &amp; unit scope)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8E3EE"/>
                </a:solidFill>
                <a:latin typeface="Consolas"/>
              </a:rPr>
              <a:t>activity_log   (generic before/after audit trail, every table)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8E3EE"/>
                </a:solidFill>
                <a:latin typeface="Consolas"/>
              </a:rPr>
              <a:t>alert_settings   (lead-time / escalation config)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8E3EE"/>
                </a:solidFill>
                <a:latin typeface="Consolas"/>
              </a:rPr>
              <a:t>lubricants   (Gadus S2 V220, Gleitmo 591, extensible)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120640" cy="4937760"/>
          </a:xfrm>
          <a:prstGeom prst="roundRect">
            <a:avLst>
              <a:gd name="adj" fmla="val 6000"/>
            </a:avLst>
          </a:prstGeom>
          <a:solidFill>
            <a:srgbClr val="10263F"/>
          </a:solidFill>
          <a:ln w="12700">
            <a:solidFill>
              <a:srgbClr val="2A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KEY DESIGN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0574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Nothing is ever hard-deleted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9BACBF"/>
                </a:solidFill>
                <a:latin typeface="Segoe UI"/>
              </a:rPr>
              <a:t>     •  Units/sections/tasks use archived_at (soft delete)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9BACBF"/>
                </a:solidFill>
                <a:latin typeface="Segoe UI"/>
              </a:rPr>
              <a:t>     •  Status events, comments, alerts, activity log have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9BACBF"/>
                </a:solidFill>
                <a:latin typeface="Segoe UI"/>
              </a:rPr>
              <a:t>     •  no UPDATE or DELETE policy for ANY role — including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9BACBF"/>
                </a:solidFill>
                <a:latin typeface="Segoe UI"/>
              </a:rPr>
              <a:t>     •  Super Admin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Corrections happen by inserting a new event,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never by editing history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This makes the audit trail genuinely tamper-proof,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not just "tamper-discouraged"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Authentication &amp;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Username + password login for every individual person — no shared logins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Username maps internally to a synthetic email so Supabase Auth works without real emails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Super Admin and Admin can create accounts and assign one, several, or all units per person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Password minimum length enforced; login errors are generic (no username/password enumeration)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10263F"/>
          </a:solidFill>
          <a:ln w="12700">
            <a:solidFill>
              <a:srgbClr val="2A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779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9 named Operators, 3 Lead Operators, 2 Production Engineers, 1 Super Admin — all individual logins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Task Checklist &amp; Check-off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Checklist automatically scoped to whatever unit(s) the logged-in account can see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One tap to mark a lubrication point "OK" or "Not Working" — matches the original sheet's simplicity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Optional comment and optional photo attachment on every check-off (neither compulsory)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Every check-off is attributed to the specific person and timestamped, permanently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"Not Working" Flagging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A point flagged "Not Working" fires an immediate alert — separate from routine due-date alerts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The flag persists and stays visible until explicitly cleared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Only someone with real scope over that unit can clear it back to "Working"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This was a specific requirement: broken equipment shouldn't wait for the next scheduled check to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Machine / Task Profile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Clicking any lubrication point opens its full history timeline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Every check-off ever recorded: who, when, status, comment, photo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Admin-tier and above can attach a comment to any past entry without altering the original record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Full alert history for that specific point (triggered → resolved)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Scheduling &amp; Alerts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Due dates auto-calculated from each task's frequency (Weekly / 2 Weeks / Monthly)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Configurable "due soon" lead time and "critical" escalation window, set plant-wide by Super Admin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A scheduled hourly job generates and auto-resolves due-soon / overdue / critical alerts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Alerts list shows Active and History, scoped per role — Operators see their own, Super Admin sees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Admin Machine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Add new units, sections, and tasks — including a reference photo per lubrication point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Edit lubricant types, frequencies, and point counts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Archive (soft-delete) units, sections, or tasks — history is preserved, never erased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New machines added later automatically get the full feature set: alerts, history,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Accounts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Create individual accounts for any of the 4 roles (permission-gated: Admin can only create Operators)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Assign or revoke unit access per account, independently of role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See every account's current unit assignments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Analytics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Compliance percentage, working vs. not-working counts, status breakdown by unit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30-day check-off activity trend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Automatically scoped: Admin/Lead Operator sees only their assigned units, Super Admin sees the whole plant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Reports &amp; 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CSV export (opens directly in Excel) and PDF export of check-off history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Includes date, unit, section, task, status, who recorded it, and any comment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Respects the same permission scoping as everywhere else — no way to export data outside your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Activity Log &amp;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Every insert/update across the system is automatically logged: who, what, when, before → after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Visible in full to Super Admin and Production Engineer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50">
                <a:solidFill>
                  <a:srgbClr val="D8E3EE"/>
                </a:solidFill>
                <a:latin typeface="Segoe UI"/>
              </a:rPr>
              <a:t>•  Permanently append-only — cannot be edited or deleted by anyone, at the database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10263F"/>
          </a:solidFill>
          <a:ln w="12700">
            <a:solidFill>
              <a:srgbClr val="2A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779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This directly answers: "who marked what done, and what wasn't done"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Hardening checklist — addressed in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No hardcoded secrets / no secrets shipped to the browser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No public .env files — gitignored from commit one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Passwords hashed by Supabase Auth, 8-char minimum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Every admin route re-checks role server-side, not just RLS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Cross-unit access blocked at the database level (RLS),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9BACBF"/>
                </a:solidFill>
                <a:latin typeface="Segoe UI"/>
              </a:rPr>
              <a:t>     •  not just in app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Storage buckets are private — signed URLs only, no public reads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Login errors are generic — no username/password enumeration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Server errors never leak raw DB messages to the client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Username, comment length, and photo type/size validated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9BACBF"/>
                </a:solidFill>
                <a:latin typeface="Segoe UI"/>
              </a:rPr>
              <a:t>     •  server-side — not just trusted from the browser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50">
                <a:solidFill>
                  <a:srgbClr val="D8E3EE"/>
                </a:solidFill>
                <a:latin typeface="Segoe UI"/>
              </a:rPr>
              <a:t>•  All queries parameterized via Supabase's query builder —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9BACBF"/>
                </a:solidFill>
                <a:latin typeface="Segoe UI"/>
              </a:rPr>
              <a:t>     •  zero raw SQL string concatenation anywhere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Glassmorphism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D8E3EE"/>
                </a:solidFill>
                <a:latin typeface="Segoe UI"/>
              </a:rPr>
              <a:t>•  Visual language built directly from the Uptime Guard logo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D8E3EE"/>
                </a:solidFill>
                <a:latin typeface="Segoe UI"/>
              </a:rPr>
              <a:t>•  Deep navy background, blue-to-teal accent gradient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D8E3EE"/>
                </a:solidFill>
                <a:latin typeface="Segoe UI"/>
              </a:rPr>
              <a:t>•  Translucent "glass" panels with backdrop blur throughout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D8E3EE"/>
                </a:solidFill>
                <a:latin typeface="Segoe UI"/>
              </a:rPr>
              <a:t>•  Consistent status colors: teal = working, amber = due soon,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9BACBF"/>
                </a:solidFill>
                <a:latin typeface="Segoe UI"/>
              </a:rPr>
              <a:t>     •  red = overdue / critical / not working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D8E3EE"/>
                </a:solidFill>
                <a:latin typeface="Segoe UI"/>
              </a:rPr>
              <a:t>•  Mobile-friendly — one codebase for Operator phones and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9BACBF"/>
                </a:solidFill>
                <a:latin typeface="Segoe UI"/>
              </a:rPr>
              <a:t>     •  Admin desktop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00200"/>
            <a:ext cx="777240" cy="685800"/>
          </a:xfrm>
          <a:prstGeom prst="roundRect">
            <a:avLst>
              <a:gd name="adj" fmla="val 25000"/>
            </a:avLst>
          </a:prstGeom>
          <a:solidFill>
            <a:srgbClr val="10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7647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Navy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468880"/>
            <a:ext cx="777240" cy="685800"/>
          </a:xfrm>
          <a:prstGeom prst="roundRect">
            <a:avLst>
              <a:gd name="adj" fmla="val 25000"/>
            </a:avLst>
          </a:prstGeom>
          <a:solidFill>
            <a:srgbClr val="3B9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2633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37560"/>
            <a:ext cx="777240" cy="685800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5021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Teal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206240"/>
            <a:ext cx="777240" cy="685800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3708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5074920"/>
            <a:ext cx="777240" cy="685800"/>
          </a:xfrm>
          <a:prstGeom prst="roundRect">
            <a:avLst>
              <a:gd name="adj" fmla="val 25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5239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What's built vs.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097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6000"/>
            </a:avLst>
          </a:prstGeom>
          <a:solidFill>
            <a:srgbClr val="10263F"/>
          </a:solidFill>
          <a:ln w="12700">
            <a:solidFill>
              <a:srgbClr val="2A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✓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Full application — every screen, every role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Complete database schema, RLS, and storage policies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Scheduled alert evaluator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Security hardening pass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Reviewed reference data from all 3 source PDFs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Clean build &amp; lint, zero errors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Disconnected role-preview pages for design sign-off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394960" cy="4663440"/>
          </a:xfrm>
          <a:prstGeom prst="roundRect">
            <a:avLst>
              <a:gd name="adj" fmla="val 6000"/>
            </a:avLst>
          </a:prstGeom>
          <a:solidFill>
            <a:srgbClr val="10263F"/>
          </a:solidFill>
          <a:ln w="12700">
            <a:solidFill>
              <a:srgbClr val="2A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→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Connect a live Supabase project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Create the first real Super Admin account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Run the reviewed seed data import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Structured feature-by-feature testing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Remove test/sample data before go-live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D8E3EE"/>
                </a:solidFill>
                <a:latin typeface="Segoe UI"/>
              </a:rPr>
              <a:t>•  Deliver the PDF test report as QA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Uptime Guard — Preventive Maintenance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BACBF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UPTIME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9BACBF"/>
                </a:solidFill>
                <a:latin typeface="Segoe UI"/>
              </a:rPr>
              <a:t>Built for the corrugator line — B Flute, C Flute, Double Facer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